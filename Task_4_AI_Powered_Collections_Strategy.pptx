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63" r:id="rId19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  <Relationship Id="rId19" Type="http://schemas.openxmlformats.org/officeDocument/2006/relationships/slide" Target="slides/slide7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 txBox="1">
            <a:spLocks noGrp="1"/>
          </p:cNvSpPr>
          <p:nvPr>
            <p:ph type="title"/>
          </p:nvPr>
        </p:nvSpPr>
        <p:spPr>
          <a:xfrm>
            <a:off x="387900" y="330000"/>
            <a:ext cx="8368200" cy="7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System Works</a:t>
            </a:r>
          </a:p>
        </p:txBody>
      </p:sp>
      <p:sp>
        <p:nvSpPr>
          <p:cNvPr id="101" name="Kicker"/>
          <p:cNvSpPr txBox="1"/>
          <p:nvPr/>
        </p:nvSpPr>
        <p:spPr>
          <a:xfrm>
            <a:off x="387900" y="1340000"/>
            <a:ext cx="8368200" cy="260000"/>
          </a:xfrm>
          <a:prstGeom prst="rect">
            <a:avLst/>
          </a:prstGeom>
          <a:noFill/>
        </p:spPr>
        <p:txBody>
          <a:bodyPr wrap="square" lIns="91425" tIns="0" rIns="91425" bIns="0" anchor="t">
            <a:noAutofit/>
          </a:bodyPr>
          <a:lstStyle/>
          <a:p>
            <a:pPr marL="0" indent="0" algn="l">
              <a:buNone/>
            </a:pPr>
            <a:r>
              <a:rPr lang="en" sz="1300" i="1" dirty="0">
                <a:solidFill>
                  <a:schemeClr val="accent4"/>
                </a:solidFill>
              </a:rPr>
              <a:t>Part 1 of 2 — From data to a decision</a:t>
            </a:r>
          </a:p>
        </p:txBody>
      </p:sp>
      <p:sp>
        <p:nvSpPr>
          <p:cNvPr id="103" name="Card"/>
          <p:cNvSpPr/>
          <p:nvPr/>
        </p:nvSpPr>
        <p:spPr>
          <a:xfrm>
            <a:off x="387900" y="1780000"/>
            <a:ext cx="3780000" cy="3060000"/>
          </a:xfrm>
          <a:prstGeom prst="roundRect">
            <a:avLst>
              <a:gd name="adj" fmla="val 4000"/>
            </a:avLst>
          </a:prstGeom>
          <a:solidFill>
            <a:schemeClr val="dk2"/>
          </a:solidFill>
          <a:ln w="12700">
            <a:solidFill>
              <a:srgbClr val="009688">
                <a:alpha val="55000"/>
              </a:srgbClr>
            </a:solidFill>
          </a:ln>
        </p:spPr>
        <p:txBody>
          <a:bodyPr wrap="square" lIns="0" tIns="0" rIns="0" bIns="0" anchor="t"/>
          <a:lstStyle/>
          <a:p>
            <a:endParaRPr lang="en"/>
          </a:p>
        </p:txBody>
      </p:sp>
      <p:sp>
        <p:nvSpPr>
          <p:cNvPr id="104" name="Circle"/>
          <p:cNvSpPr/>
          <p:nvPr/>
        </p:nvSpPr>
        <p:spPr>
          <a:xfrm>
            <a:off x="567900" y="1960000"/>
            <a:ext cx="420000" cy="4200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" sz="1600" b="1" dirty="0">
                <a:solidFill>
                  <a:schemeClr val="dk2"/>
                </a:solidFill>
              </a:rPr>
              <a:t>1</a:t>
            </a:r>
          </a:p>
        </p:txBody>
      </p:sp>
      <p:sp>
        <p:nvSpPr>
          <p:cNvPr id="105" name="CardHeading"/>
          <p:cNvSpPr txBox="1"/>
          <p:nvPr/>
        </p:nvSpPr>
        <p:spPr>
          <a:xfrm>
            <a:off x="1107900" y="1930000"/>
            <a:ext cx="2960000" cy="4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" sz="1500" b="1" dirty="0">
                <a:solidFill>
                  <a:schemeClr val="dk1"/>
                </a:solidFill>
              </a:rPr>
              <a:t>Inputs</a:t>
            </a:r>
          </a:p>
        </p:txBody>
      </p:sp>
      <p:sp>
        <p:nvSpPr>
          <p:cNvPr id="106" name="CardBody"/>
          <p:cNvSpPr txBox="1"/>
          <p:nvPr/>
        </p:nvSpPr>
        <p:spPr>
          <a:xfrm>
            <a:off x="667900" y="2480000"/>
            <a:ext cx="3220000" cy="21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b="1" dirty="0">
                <a:solidFill>
                  <a:schemeClr val="dk1"/>
                </a:solidFill>
              </a:rPr>
              <a:t>Customer profile: </a:t>
            </a:r>
            <a:r>
              <a:rPr lang="en" sz="1200" dirty="0">
                <a:solidFill>
                  <a:schemeClr val="lt2"/>
                </a:solidFill>
              </a:rPr>
              <a:t>Demographics, employment status, income band, and account/loan details.</a:t>
            </a:r>
          </a:p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b="1" dirty="0">
                <a:solidFill>
                  <a:schemeClr val="dk1"/>
                </a:solidFill>
              </a:rPr>
              <a:t>Payment behavior: </a:t>
            </a:r>
            <a:r>
              <a:rPr lang="en" sz="1200" dirty="0">
                <a:solidFill>
                  <a:schemeClr val="lt2"/>
                </a:solidFill>
              </a:rPr>
              <a:t>Six-month on-time / late / missed history, credit utilization, and credit score.</a:t>
            </a:r>
          </a:p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b="1" dirty="0">
                <a:solidFill>
                  <a:schemeClr val="dk1"/>
                </a:solidFill>
              </a:rPr>
              <a:t>Refresh cadence: </a:t>
            </a:r>
            <a:r>
              <a:rPr lang="en" sz="1200" dirty="0">
                <a:solidFill>
                  <a:schemeClr val="lt2"/>
                </a:solidFill>
              </a:rPr>
              <a:t>Pulled monthly from Geldium's core banking and credit-bureau feeds.</a:t>
            </a:r>
          </a:p>
        </p:txBody>
      </p:sp>
      <p:sp>
        <p:nvSpPr>
          <p:cNvPr id="107" name="Arrow"/>
          <p:cNvSpPr/>
          <p:nvPr/>
        </p:nvSpPr>
        <p:spPr>
          <a:xfrm>
            <a:off x="4347900" y="3160000"/>
            <a:ext cx="380000" cy="300000"/>
          </a:xfrm>
          <a:prstGeom prst="rightArrow">
            <a:avLst>
              <a:gd name="adj1" fmla="val 60000"/>
              <a:gd name="adj2" fmla="val 60000"/>
            </a:avLst>
          </a:prstGeom>
          <a:solidFill>
            <a:srgbClr val="FFEB38"/>
          </a:solidFill>
          <a:ln>
            <a:noFill/>
          </a:ln>
        </p:spPr>
        <p:txBody>
          <a:bodyPr/>
          <a:lstStyle/>
          <a:p>
            <a:endParaRPr lang="en"/>
          </a:p>
        </p:txBody>
      </p:sp>
      <p:sp>
        <p:nvSpPr>
          <p:cNvPr id="108" name="Card"/>
          <p:cNvSpPr/>
          <p:nvPr/>
        </p:nvSpPr>
        <p:spPr>
          <a:xfrm>
            <a:off x="4907900" y="1780000"/>
            <a:ext cx="3780000" cy="3060000"/>
          </a:xfrm>
          <a:prstGeom prst="roundRect">
            <a:avLst>
              <a:gd name="adj" fmla="val 4000"/>
            </a:avLst>
          </a:prstGeom>
          <a:solidFill>
            <a:schemeClr val="dk2"/>
          </a:solidFill>
          <a:ln w="12700">
            <a:solidFill>
              <a:srgbClr val="0277BD">
                <a:alpha val="55000"/>
              </a:srgbClr>
            </a:solidFill>
          </a:ln>
        </p:spPr>
        <p:txBody>
          <a:bodyPr wrap="square" lIns="0" tIns="0" rIns="0" bIns="0" anchor="t"/>
          <a:lstStyle/>
          <a:p>
            <a:endParaRPr lang="en"/>
          </a:p>
        </p:txBody>
      </p:sp>
      <p:sp>
        <p:nvSpPr>
          <p:cNvPr id="109" name="Circle"/>
          <p:cNvSpPr/>
          <p:nvPr/>
        </p:nvSpPr>
        <p:spPr>
          <a:xfrm>
            <a:off x="5087900" y="1960000"/>
            <a:ext cx="420000" cy="420000"/>
          </a:xfrm>
          <a:prstGeom prst="ellipse">
            <a:avLst/>
          </a:prstGeom>
          <a:solidFill>
            <a:srgbClr val="0277BD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" sz="1600" b="1" dirty="0">
                <a:solidFill>
                  <a:schemeClr val="dk2"/>
                </a:solidFill>
              </a:rPr>
              <a:t>2</a:t>
            </a:r>
          </a:p>
        </p:txBody>
      </p:sp>
      <p:sp>
        <p:nvSpPr>
          <p:cNvPr id="110" name="CardHeading"/>
          <p:cNvSpPr txBox="1"/>
          <p:nvPr/>
        </p:nvSpPr>
        <p:spPr>
          <a:xfrm>
            <a:off x="5627900" y="1930000"/>
            <a:ext cx="2960000" cy="4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" sz="1500" b="1" dirty="0">
                <a:solidFill>
                  <a:schemeClr val="dk1"/>
                </a:solidFill>
              </a:rPr>
              <a:t>Decision Logic</a:t>
            </a:r>
          </a:p>
        </p:txBody>
      </p:sp>
      <p:sp>
        <p:nvSpPr>
          <p:cNvPr id="111" name="CardBody"/>
          <p:cNvSpPr txBox="1"/>
          <p:nvPr/>
        </p:nvSpPr>
        <p:spPr>
          <a:xfrm>
            <a:off x="5187900" y="2480000"/>
            <a:ext cx="3220000" cy="21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b="1" dirty="0">
                <a:solidFill>
                  <a:schemeClr val="dk1"/>
                </a:solidFill>
              </a:rPr>
              <a:t>Risk scoring: </a:t>
            </a:r>
            <a:r>
              <a:rPr lang="en" sz="1200" dirty="0">
                <a:solidFill>
                  <a:schemeClr val="lt2"/>
                </a:solidFill>
              </a:rPr>
              <a:t>A Random Forest model outputs a delinquency probability (0–1) for every account.</a:t>
            </a:r>
          </a:p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b="1" dirty="0">
                <a:solidFill>
                  <a:schemeClr val="dk1"/>
                </a:solidFill>
              </a:rPr>
              <a:t>Rule overlay: </a:t>
            </a:r>
            <a:r>
              <a:rPr lang="en" sz="1200" dirty="0">
                <a:solidFill>
                  <a:schemeClr val="lt2"/>
                </a:solidFill>
              </a:rPr>
              <a:t>Business rules — hardship flags, active disputes, regulatory holds — adjust or override the raw score.</a:t>
            </a:r>
          </a:p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b="1" dirty="0">
                <a:solidFill>
                  <a:schemeClr val="dk1"/>
                </a:solidFill>
              </a:rPr>
              <a:t>Risk tiers: </a:t>
            </a:r>
            <a:r>
              <a:rPr lang="en" sz="1200" dirty="0">
                <a:solidFill>
                  <a:schemeClr val="lt2"/>
                </a:solidFill>
              </a:rPr>
              <a:t>Low &lt; 0.30  ·  Medium 0.30–0.60  ·  High ≥ 0.60, each mapped to a different action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>
            <a:spLocks noGrp="1"/>
          </p:cNvSpPr>
          <p:nvPr>
            <p:ph type="title"/>
          </p:nvPr>
        </p:nvSpPr>
        <p:spPr>
          <a:xfrm>
            <a:off x="387900" y="330000"/>
            <a:ext cx="8368200" cy="7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Role of Agentic AI</a:t>
            </a:r>
          </a:p>
        </p:txBody>
      </p:sp>
      <p:sp>
        <p:nvSpPr>
          <p:cNvPr id="102" name="Kicker"/>
          <p:cNvSpPr txBox="1"/>
          <p:nvPr/>
        </p:nvSpPr>
        <p:spPr>
          <a:xfrm>
            <a:off x="387900" y="1340000"/>
            <a:ext cx="8368200" cy="260000"/>
          </a:xfrm>
          <a:prstGeom prst="rect">
            <a:avLst/>
          </a:prstGeom>
          <a:noFill/>
        </p:spPr>
        <p:txBody>
          <a:bodyPr wrap="square" lIns="91425" tIns="0" rIns="91425" bIns="0" anchor="t">
            <a:noAutofit/>
          </a:bodyPr>
          <a:lstStyle/>
          <a:p>
            <a:pPr marL="0" indent="0" algn="l">
              <a:buNone/>
            </a:pPr>
            <a:r>
              <a:rPr lang="en" sz="1300" i="1" dirty="0">
                <a:solidFill>
                  <a:schemeClr val="accent4"/>
                </a:solidFill>
              </a:rPr>
              <a:t>Which decisions the system makes alone — and which stay with a person</a:t>
            </a:r>
          </a:p>
        </p:txBody>
      </p:sp>
      <p:graphicFrame>
        <p:nvGraphicFramePr>
          <p:cNvPr id="103" name="Agentic Table"/>
          <p:cNvGraphicFramePr>
            <a:graphicFrameLocks noGrp="1"/>
          </p:cNvGraphicFramePr>
          <p:nvPr/>
        </p:nvGraphicFramePr>
        <p:xfrm>
          <a:off x="387900" y="1780000"/>
          <a:ext cx="8368200" cy="298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184100"/>
                <a:gridCol w="4184100"/>
              </a:tblGrid>
              <a:tr h="500000">
                <a:tc>
                  <a:txBody>
                    <a:bodyPr lIns="137160" tIns="68580" rIns="91440" bIns="68580" anchor="ctr"/>
                    <a:lstStyle/>
                    <a:p>
                      <a:pPr algn="l">
                        <a:buNone/>
                      </a:pPr>
                      <a:r>
                        <a:rPr lang="en" sz="1400" b="1" dirty="0">
                          <a:solidFill>
                            <a:srgbClr val="FFFFFF"/>
                          </a:solidFill>
                        </a:rPr>
                        <a:t>Autonomous AI</a:t>
                      </a:r>
                    </a:p>
                  </a:txBody>
                  <a:tcPr marL="0" marR="0" marT="0" marB="0" anchor="ctr">
                    <a:solidFill>
                      <a:srgbClr val="009688"/>
                    </a:solidFill>
                  </a:tcPr>
                </a:tc>
                <a:tc>
                  <a:txBody>
                    <a:bodyPr lIns="137160" tIns="68580" rIns="91440" bIns="68580" anchor="ctr"/>
                    <a:lstStyle/>
                    <a:p>
                      <a:pPr algn="l">
                        <a:buNone/>
                      </a:pPr>
                      <a:r>
                        <a:rPr lang="en" sz="1400" b="1" dirty="0">
                          <a:solidFill>
                            <a:srgbClr val="FFFFFF"/>
                          </a:solidFill>
                        </a:rPr>
                        <a:t>Human Oversight</a:t>
                      </a:r>
                    </a:p>
                  </a:txBody>
                  <a:tcPr marL="0" marR="0" marT="0" marB="0" anchor="ctr">
                    <a:solidFill>
                      <a:srgbClr val="0277BD"/>
                    </a:solidFill>
                  </a:tcPr>
                </a:tc>
              </a:tr>
              <a:tr h="620000">
                <a:tc>
                  <a:txBody>
                    <a:bodyPr lIns="137160" tIns="68580" rIns="91440" bIns="68580" anchor="ctr"/>
                    <a:lstStyle/>
                    <a:p>
                      <a:pPr marL="0" indent="0" algn="l">
                        <a:buNone/>
                      </a:pPr>
                      <a:r>
                        <a:rPr lang="en" sz="1150" dirty="0">
                          <a:solidFill>
                            <a:srgbClr val="FFFFFF"/>
                          </a:solidFill>
                        </a:rPr>
                        <a:t>Score every account nightly and assign a risk tier</a:t>
                      </a:r>
                    </a:p>
                  </a:txBody>
                  <a:tcPr marL="0" marR="0" marT="0" marB="0" anchor="ctr">
                    <a:solidFill>
                      <a:srgbClr val="004065"/>
                    </a:solidFill>
                  </a:tcPr>
                </a:tc>
                <a:tc>
                  <a:txBody>
                    <a:bodyPr lIns="137160" tIns="68580" rIns="91440" bIns="68580" anchor="ctr"/>
                    <a:lstStyle/>
                    <a:p>
                      <a:pPr marL="0" indent="0" algn="l">
                        <a:buNone/>
                      </a:pPr>
                      <a:r>
                        <a:rPr lang="en" sz="1150" dirty="0">
                          <a:solidFill>
                            <a:srgbClr val="FFFFFF"/>
                          </a:solidFill>
                        </a:rPr>
                        <a:t>Approve hardship plans, settlements, or payment-term changes</a:t>
                      </a:r>
                    </a:p>
                  </a:txBody>
                  <a:tcPr marL="0" marR="0" marT="0" marB="0" anchor="ctr">
                    <a:solidFill>
                      <a:srgbClr val="004065"/>
                    </a:solidFill>
                  </a:tcPr>
                </a:tc>
              </a:tr>
              <a:tr h="620000">
                <a:tc>
                  <a:txBody>
                    <a:bodyPr lIns="137160" tIns="68580" rIns="91440" bIns="68580" anchor="ctr"/>
                    <a:lstStyle/>
                    <a:p>
                      <a:pPr marL="0" indent="0" algn="l">
                        <a:buNone/>
                      </a:pPr>
                      <a:r>
                        <a:rPr lang="en" sz="1150" dirty="0">
                          <a:solidFill>
                            <a:srgbClr val="FFFFFF"/>
                          </a:solidFill>
                        </a:rPr>
                        <a:t>Send low-risk reminders via SMS, email, or app push</a:t>
                      </a:r>
                    </a:p>
                  </a:txBody>
                  <a:tcPr marL="0" marR="0" marT="0" marB="0" anchor="ctr">
                    <a:solidFill>
                      <a:srgbClr val="00517C"/>
                    </a:solidFill>
                  </a:tcPr>
                </a:tc>
                <a:tc>
                  <a:txBody>
                    <a:bodyPr lIns="137160" tIns="68580" rIns="91440" bIns="68580" anchor="ctr"/>
                    <a:lstStyle/>
                    <a:p>
                      <a:pPr marL="0" indent="0" algn="l">
                        <a:buNone/>
                      </a:pPr>
                      <a:r>
                        <a:rPr lang="en" sz="1150" dirty="0">
                          <a:solidFill>
                            <a:srgbClr val="FFFFFF"/>
                          </a:solidFill>
                        </a:rPr>
                        <a:t>Any action that could restrict credit access or report to a bureau</a:t>
                      </a:r>
                    </a:p>
                  </a:txBody>
                  <a:tcPr marL="0" marR="0" marT="0" marB="0" anchor="ctr">
                    <a:solidFill>
                      <a:srgbClr val="00517C"/>
                    </a:solidFill>
                  </a:tcPr>
                </a:tc>
              </a:tr>
              <a:tr h="620000">
                <a:tc>
                  <a:txBody>
                    <a:bodyPr lIns="137160" tIns="68580" rIns="91440" bIns="68580" anchor="ctr"/>
                    <a:lstStyle/>
                    <a:p>
                      <a:pPr marL="0" indent="0" algn="l">
                        <a:buNone/>
                      </a:pPr>
                      <a:r>
                        <a:rPr lang="en" sz="1150" dirty="0">
                          <a:solidFill>
                            <a:srgbClr val="FFFFFF"/>
                          </a:solidFill>
                        </a:rPr>
                        <a:t>Route medium- and high-risk cases to the right queue</a:t>
                      </a:r>
                    </a:p>
                  </a:txBody>
                  <a:tcPr marL="0" marR="0" marT="0" marB="0" anchor="ctr">
                    <a:solidFill>
                      <a:srgbClr val="004065"/>
                    </a:solidFill>
                  </a:tcPr>
                </a:tc>
                <a:tc>
                  <a:txBody>
                    <a:bodyPr lIns="137160" tIns="68580" rIns="91440" bIns="68580" anchor="ctr"/>
                    <a:lstStyle/>
                    <a:p>
                      <a:pPr marL="0" indent="0" algn="l">
                        <a:buNone/>
                      </a:pPr>
                      <a:r>
                        <a:rPr lang="en" sz="1150" dirty="0">
                          <a:solidFill>
                            <a:srgbClr val="FFFFFF"/>
                          </a:solidFill>
                        </a:rPr>
                        <a:t>Review accounts flagged by the fairness and bias monitor</a:t>
                      </a:r>
                    </a:p>
                  </a:txBody>
                  <a:tcPr marL="0" marR="0" marT="0" marB="0" anchor="ctr">
                    <a:solidFill>
                      <a:srgbClr val="004065"/>
                    </a:solidFill>
                  </a:tcPr>
                </a:tc>
              </a:tr>
              <a:tr h="620000">
                <a:tc>
                  <a:txBody>
                    <a:bodyPr lIns="137160" tIns="68580" rIns="91440" bIns="68580" anchor="ctr"/>
                    <a:lstStyle/>
                    <a:p>
                      <a:pPr marL="0" indent="0" algn="l">
                        <a:buNone/>
                      </a:pPr>
                      <a:r>
                        <a:rPr lang="en" sz="1150" dirty="0">
                          <a:solidFill>
                            <a:srgbClr val="FFFFFF"/>
                          </a:solidFill>
                        </a:rPr>
                        <a:t>Log outcomes and update the customer record</a:t>
                      </a:r>
                    </a:p>
                  </a:txBody>
                  <a:tcPr marL="0" marR="0" marT="0" marB="0" anchor="ctr">
                    <a:solidFill>
                      <a:srgbClr val="00517C"/>
                    </a:solidFill>
                  </a:tcPr>
                </a:tc>
                <a:tc>
                  <a:txBody>
                    <a:bodyPr lIns="137160" tIns="68580" rIns="91440" bIns="68580" anchor="ctr"/>
                    <a:lstStyle/>
                    <a:p>
                      <a:pPr marL="0" indent="0" algn="l">
                        <a:buNone/>
                      </a:pPr>
                      <a:r>
                        <a:rPr lang="en" sz="1150" dirty="0">
                          <a:solidFill>
                            <a:srgbClr val="FFFFFF"/>
                          </a:solidFill>
                        </a:rPr>
                        <a:t>Handle disputes, complaints, hardship cases, and final sign-off before escalation</a:t>
                      </a:r>
                    </a:p>
                  </a:txBody>
                  <a:tcPr marL="0" marR="0" marT="0" marB="0" anchor="ctr">
                    <a:solidFill>
                      <a:srgbClr val="00517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>
            <a:spLocks noGrp="1"/>
          </p:cNvSpPr>
          <p:nvPr>
            <p:ph type="title"/>
          </p:nvPr>
        </p:nvSpPr>
        <p:spPr>
          <a:xfrm>
            <a:off x="387900" y="330000"/>
            <a:ext cx="8368200" cy="7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Responsible AI Guardrails</a:t>
            </a:r>
          </a:p>
        </p:txBody>
      </p:sp>
      <p:sp>
        <p:nvSpPr>
          <p:cNvPr id="102" name="Kicker"/>
          <p:cNvSpPr txBox="1"/>
          <p:nvPr/>
        </p:nvSpPr>
        <p:spPr>
          <a:xfrm>
            <a:off x="387900" y="1340000"/>
            <a:ext cx="8368200" cy="260000"/>
          </a:xfrm>
          <a:prstGeom prst="rect">
            <a:avLst/>
          </a:prstGeom>
          <a:noFill/>
        </p:spPr>
        <p:txBody>
          <a:bodyPr wrap="square" lIns="91425" tIns="0" rIns="91425" bIns="0" anchor="t">
            <a:noAutofit/>
          </a:bodyPr>
          <a:lstStyle/>
          <a:p>
            <a:pPr marL="0" indent="0" algn="l">
              <a:buNone/>
            </a:pPr>
            <a:r>
              <a:rPr lang="en" sz="1300" i="1" dirty="0">
                <a:solidFill>
                  <a:schemeClr val="accent4"/>
                </a:solidFill>
              </a:rPr>
              <a:t>Safeguards built into the system from day one</a:t>
            </a:r>
          </a:p>
        </p:txBody>
      </p:sp>
      <p:sp>
        <p:nvSpPr>
          <p:cNvPr id="103" name="Card"/>
          <p:cNvSpPr/>
          <p:nvPr/>
        </p:nvSpPr>
        <p:spPr>
          <a:xfrm>
            <a:off x="387900" y="1780000"/>
            <a:ext cx="4094100" cy="1450000"/>
          </a:xfrm>
          <a:prstGeom prst="roundRect">
            <a:avLst>
              <a:gd name="adj" fmla="val 4000"/>
            </a:avLst>
          </a:prstGeom>
          <a:solidFill>
            <a:schemeClr val="dk2"/>
          </a:solidFill>
          <a:ln w="12700">
            <a:solidFill>
              <a:srgbClr val="009688">
                <a:alpha val="55000"/>
              </a:srgbClr>
            </a:solidFill>
          </a:ln>
        </p:spPr>
        <p:txBody>
          <a:bodyPr wrap="square" lIns="0" tIns="0" rIns="0" bIns="0" anchor="t"/>
          <a:lstStyle/>
          <a:p>
            <a:endParaRPr lang="en"/>
          </a:p>
        </p:txBody>
      </p:sp>
      <p:sp>
        <p:nvSpPr>
          <p:cNvPr id="104" name="Circle"/>
          <p:cNvSpPr/>
          <p:nvPr/>
        </p:nvSpPr>
        <p:spPr>
          <a:xfrm>
            <a:off x="567900" y="1960000"/>
            <a:ext cx="420000" cy="4200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" sz="1600" b="1" dirty="0">
                <a:solidFill>
                  <a:schemeClr val="dk2"/>
                </a:solidFill>
              </a:rPr>
              <a:t>1</a:t>
            </a:r>
          </a:p>
        </p:txBody>
      </p:sp>
      <p:sp>
        <p:nvSpPr>
          <p:cNvPr id="105" name="CardHeading"/>
          <p:cNvSpPr txBox="1"/>
          <p:nvPr/>
        </p:nvSpPr>
        <p:spPr>
          <a:xfrm>
            <a:off x="1107900" y="1930000"/>
            <a:ext cx="3274100" cy="4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" sz="1500" b="1" dirty="0">
                <a:solidFill>
                  <a:schemeClr val="dk1"/>
                </a:solidFill>
              </a:rPr>
              <a:t>Fairness Monitoring</a:t>
            </a:r>
          </a:p>
        </p:txBody>
      </p:sp>
      <p:sp>
        <p:nvSpPr>
          <p:cNvPr id="106" name="CardBody"/>
          <p:cNvSpPr txBox="1"/>
          <p:nvPr/>
        </p:nvSpPr>
        <p:spPr>
          <a:xfrm>
            <a:off x="667900" y="2480000"/>
            <a:ext cx="3534100" cy="5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dirty="0">
                <a:solidFill>
                  <a:schemeClr val="lt2"/>
                </a:solidFill>
              </a:rPr>
              <a:t>Subgroup testing of recall and precision by location, age band, and employment on every model refresh, with alerts if disparate impact exceeds threshold.</a:t>
            </a:r>
          </a:p>
        </p:txBody>
      </p:sp>
      <p:sp>
        <p:nvSpPr>
          <p:cNvPr id="107" name="Card"/>
          <p:cNvSpPr/>
          <p:nvPr/>
        </p:nvSpPr>
        <p:spPr>
          <a:xfrm>
            <a:off x="4662000" y="1780000"/>
            <a:ext cx="4094100" cy="1450000"/>
          </a:xfrm>
          <a:prstGeom prst="roundRect">
            <a:avLst>
              <a:gd name="adj" fmla="val 4000"/>
            </a:avLst>
          </a:prstGeom>
          <a:solidFill>
            <a:schemeClr val="dk2"/>
          </a:solidFill>
          <a:ln w="12700">
            <a:solidFill>
              <a:srgbClr val="0277BD">
                <a:alpha val="55000"/>
              </a:srgbClr>
            </a:solidFill>
          </a:ln>
        </p:spPr>
        <p:txBody>
          <a:bodyPr wrap="square" lIns="0" tIns="0" rIns="0" bIns="0" anchor="t"/>
          <a:lstStyle/>
          <a:p>
            <a:endParaRPr lang="en"/>
          </a:p>
        </p:txBody>
      </p:sp>
      <p:sp>
        <p:nvSpPr>
          <p:cNvPr id="108" name="Circle"/>
          <p:cNvSpPr/>
          <p:nvPr/>
        </p:nvSpPr>
        <p:spPr>
          <a:xfrm>
            <a:off x="4842000" y="1960000"/>
            <a:ext cx="420000" cy="420000"/>
          </a:xfrm>
          <a:prstGeom prst="ellipse">
            <a:avLst/>
          </a:prstGeom>
          <a:solidFill>
            <a:srgbClr val="0277BD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" sz="1600" b="1" dirty="0">
                <a:solidFill>
                  <a:schemeClr val="dk2"/>
                </a:solidFill>
              </a:rPr>
              <a:t>2</a:t>
            </a:r>
          </a:p>
        </p:txBody>
      </p:sp>
      <p:sp>
        <p:nvSpPr>
          <p:cNvPr id="109" name="CardHeading"/>
          <p:cNvSpPr txBox="1"/>
          <p:nvPr/>
        </p:nvSpPr>
        <p:spPr>
          <a:xfrm>
            <a:off x="5382000" y="1930000"/>
            <a:ext cx="3274100" cy="4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" sz="1500" b="1" dirty="0">
                <a:solidFill>
                  <a:schemeClr val="dk1"/>
                </a:solidFill>
              </a:rPr>
              <a:t>Explainability</a:t>
            </a:r>
          </a:p>
        </p:txBody>
      </p:sp>
      <p:sp>
        <p:nvSpPr>
          <p:cNvPr id="110" name="CardBody"/>
          <p:cNvSpPr txBox="1"/>
          <p:nvPr/>
        </p:nvSpPr>
        <p:spPr>
          <a:xfrm>
            <a:off x="4942000" y="2480000"/>
            <a:ext cx="3534100" cy="5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dirty="0">
                <a:solidFill>
                  <a:schemeClr val="lt2"/>
                </a:solidFill>
              </a:rPr>
              <a:t>SHAP-based reason codes attached to every decision, with plain-language explanations available to customers and agents.</a:t>
            </a:r>
          </a:p>
        </p:txBody>
      </p:sp>
      <p:sp>
        <p:nvSpPr>
          <p:cNvPr id="111" name="Card"/>
          <p:cNvSpPr/>
          <p:nvPr/>
        </p:nvSpPr>
        <p:spPr>
          <a:xfrm>
            <a:off x="387900" y="3410000"/>
            <a:ext cx="4094100" cy="1450000"/>
          </a:xfrm>
          <a:prstGeom prst="roundRect">
            <a:avLst>
              <a:gd name="adj" fmla="val 4000"/>
            </a:avLst>
          </a:prstGeom>
          <a:solidFill>
            <a:schemeClr val="dk2"/>
          </a:solidFill>
          <a:ln w="12700">
            <a:solidFill>
              <a:srgbClr val="8BC34A">
                <a:alpha val="55000"/>
              </a:srgbClr>
            </a:solidFill>
          </a:ln>
        </p:spPr>
        <p:txBody>
          <a:bodyPr wrap="square" lIns="0" tIns="0" rIns="0" bIns="0" anchor="t"/>
          <a:lstStyle/>
          <a:p>
            <a:endParaRPr lang="en"/>
          </a:p>
        </p:txBody>
      </p:sp>
      <p:sp>
        <p:nvSpPr>
          <p:cNvPr id="112" name="Circle"/>
          <p:cNvSpPr/>
          <p:nvPr/>
        </p:nvSpPr>
        <p:spPr>
          <a:xfrm>
            <a:off x="567900" y="3590000"/>
            <a:ext cx="420000" cy="420000"/>
          </a:xfrm>
          <a:prstGeom prst="ellipse">
            <a:avLst/>
          </a:prstGeom>
          <a:solidFill>
            <a:srgbClr val="8BC34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" sz="1600" b="1" dirty="0">
                <a:solidFill>
                  <a:schemeClr val="dk2"/>
                </a:solidFill>
              </a:rPr>
              <a:t>3</a:t>
            </a:r>
          </a:p>
        </p:txBody>
      </p:sp>
      <p:sp>
        <p:nvSpPr>
          <p:cNvPr id="113" name="CardHeading"/>
          <p:cNvSpPr txBox="1"/>
          <p:nvPr/>
        </p:nvSpPr>
        <p:spPr>
          <a:xfrm>
            <a:off x="1107900" y="3560000"/>
            <a:ext cx="3274100" cy="4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" sz="1500" b="1" dirty="0">
                <a:solidFill>
                  <a:schemeClr val="dk1"/>
                </a:solidFill>
              </a:rPr>
              <a:t>Regulatory Compliance</a:t>
            </a:r>
          </a:p>
        </p:txBody>
      </p:sp>
      <p:sp>
        <p:nvSpPr>
          <p:cNvPr id="114" name="CardBody"/>
          <p:cNvSpPr txBox="1"/>
          <p:nvPr/>
        </p:nvSpPr>
        <p:spPr>
          <a:xfrm>
            <a:off x="667900" y="4110000"/>
            <a:ext cx="3534100" cy="5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dirty="0">
                <a:solidFill>
                  <a:schemeClr val="lt2"/>
                </a:solidFill>
              </a:rPr>
              <a:t>Aligned to FCRA, ECOA/Reg B, FDCPA, and GDPR. No protected attributes are used as model features, and a full audit trail is retained.</a:t>
            </a:r>
          </a:p>
        </p:txBody>
      </p:sp>
      <p:sp>
        <p:nvSpPr>
          <p:cNvPr id="115" name="Card"/>
          <p:cNvSpPr/>
          <p:nvPr/>
        </p:nvSpPr>
        <p:spPr>
          <a:xfrm>
            <a:off x="4662000" y="3410000"/>
            <a:ext cx="4094100" cy="1450000"/>
          </a:xfrm>
          <a:prstGeom prst="roundRect">
            <a:avLst>
              <a:gd name="adj" fmla="val 4000"/>
            </a:avLst>
          </a:prstGeom>
          <a:solidFill>
            <a:schemeClr val="dk2"/>
          </a:solidFill>
          <a:ln w="12700">
            <a:solidFill>
              <a:srgbClr val="FFEB38">
                <a:alpha val="55000"/>
              </a:srgbClr>
            </a:solidFill>
          </a:ln>
        </p:spPr>
        <p:txBody>
          <a:bodyPr wrap="square" lIns="0" tIns="0" rIns="0" bIns="0" anchor="t"/>
          <a:lstStyle/>
          <a:p>
            <a:endParaRPr lang="en"/>
          </a:p>
        </p:txBody>
      </p:sp>
      <p:sp>
        <p:nvSpPr>
          <p:cNvPr id="116" name="Circle"/>
          <p:cNvSpPr/>
          <p:nvPr/>
        </p:nvSpPr>
        <p:spPr>
          <a:xfrm>
            <a:off x="4842000" y="3590000"/>
            <a:ext cx="420000" cy="420000"/>
          </a:xfrm>
          <a:prstGeom prst="ellipse">
            <a:avLst/>
          </a:prstGeom>
          <a:solidFill>
            <a:srgbClr val="FFEB38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" sz="1600" b="1" dirty="0">
                <a:solidFill>
                  <a:schemeClr val="dk2"/>
                </a:solidFill>
              </a:rPr>
              <a:t>4</a:t>
            </a:r>
          </a:p>
        </p:txBody>
      </p:sp>
      <p:sp>
        <p:nvSpPr>
          <p:cNvPr id="117" name="CardHeading"/>
          <p:cNvSpPr txBox="1"/>
          <p:nvPr/>
        </p:nvSpPr>
        <p:spPr>
          <a:xfrm>
            <a:off x="5382000" y="3560000"/>
            <a:ext cx="3274100" cy="4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" sz="1500" b="1" dirty="0">
                <a:solidFill>
                  <a:schemeClr val="dk1"/>
                </a:solidFill>
              </a:rPr>
              <a:t>Human-in-the-Loop</a:t>
            </a:r>
          </a:p>
        </p:txBody>
      </p:sp>
      <p:sp>
        <p:nvSpPr>
          <p:cNvPr id="118" name="CardBody"/>
          <p:cNvSpPr txBox="1"/>
          <p:nvPr/>
        </p:nvSpPr>
        <p:spPr>
          <a:xfrm>
            <a:off x="4942000" y="4110000"/>
            <a:ext cx="3534100" cy="5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dirty="0">
                <a:solidFill>
                  <a:schemeClr val="lt2"/>
                </a:solidFill>
              </a:rPr>
              <a:t>Mandatory human review for high-risk and hardship actions. Customers can always request a human review or appeal a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>
            <a:spLocks noGrp="1"/>
          </p:cNvSpPr>
          <p:nvPr>
            <p:ph type="title"/>
          </p:nvPr>
        </p:nvSpPr>
        <p:spPr>
          <a:xfrm>
            <a:off x="387900" y="330000"/>
            <a:ext cx="8368200" cy="7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Expected Business Impact</a:t>
            </a:r>
          </a:p>
        </p:txBody>
      </p:sp>
      <p:sp>
        <p:nvSpPr>
          <p:cNvPr id="102" name="Kicker"/>
          <p:cNvSpPr txBox="1"/>
          <p:nvPr/>
        </p:nvSpPr>
        <p:spPr>
          <a:xfrm>
            <a:off x="387900" y="1340000"/>
            <a:ext cx="8368200" cy="260000"/>
          </a:xfrm>
          <a:prstGeom prst="rect">
            <a:avLst/>
          </a:prstGeom>
          <a:noFill/>
        </p:spPr>
        <p:txBody>
          <a:bodyPr wrap="square" lIns="91425" tIns="0" rIns="91425" bIns="0" anchor="t">
            <a:noAutofit/>
          </a:bodyPr>
          <a:lstStyle/>
          <a:p>
            <a:pPr marL="0" indent="0" algn="l">
              <a:buNone/>
            </a:pPr>
            <a:r>
              <a:rPr lang="en" sz="1300" i="1" dirty="0">
                <a:solidFill>
                  <a:schemeClr val="accent4"/>
                </a:solidFill>
              </a:rPr>
              <a:t>How the system benefits Geldium and its customers</a:t>
            </a:r>
          </a:p>
        </p:txBody>
      </p:sp>
      <p:sp>
        <p:nvSpPr>
          <p:cNvPr id="103" name="Card"/>
          <p:cNvSpPr/>
          <p:nvPr/>
        </p:nvSpPr>
        <p:spPr>
          <a:xfrm>
            <a:off x="387900" y="1780000"/>
            <a:ext cx="3850000" cy="3060000"/>
          </a:xfrm>
          <a:prstGeom prst="roundRect">
            <a:avLst>
              <a:gd name="adj" fmla="val 4000"/>
            </a:avLst>
          </a:prstGeom>
          <a:solidFill>
            <a:schemeClr val="dk2"/>
          </a:solidFill>
          <a:ln w="12700">
            <a:solidFill>
              <a:srgbClr val="009688">
                <a:alpha val="55000"/>
              </a:srgbClr>
            </a:solidFill>
          </a:ln>
        </p:spPr>
        <p:txBody>
          <a:bodyPr wrap="square" lIns="0" tIns="0" rIns="0" bIns="0" anchor="t"/>
          <a:lstStyle/>
          <a:p>
            <a:endParaRPr lang="en"/>
          </a:p>
        </p:txBody>
      </p:sp>
      <p:sp>
        <p:nvSpPr>
          <p:cNvPr id="104" name="Circle"/>
          <p:cNvSpPr/>
          <p:nvPr/>
        </p:nvSpPr>
        <p:spPr>
          <a:xfrm>
            <a:off x="567900" y="1960000"/>
            <a:ext cx="420000" cy="4200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" sz="1600" b="1" dirty="0">
                <a:solidFill>
                  <a:schemeClr val="dk2"/>
                </a:solidFill>
              </a:rPr>
              <a:t>$</a:t>
            </a:r>
          </a:p>
        </p:txBody>
      </p:sp>
      <p:sp>
        <p:nvSpPr>
          <p:cNvPr id="105" name="CardHeading"/>
          <p:cNvSpPr txBox="1"/>
          <p:nvPr/>
        </p:nvSpPr>
        <p:spPr>
          <a:xfrm>
            <a:off x="1107900" y="1930000"/>
            <a:ext cx="3030000" cy="4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" sz="1500" b="1" dirty="0">
                <a:solidFill>
                  <a:schemeClr val="dk1"/>
                </a:solidFill>
              </a:rPr>
              <a:t>Business KPIs</a:t>
            </a:r>
          </a:p>
        </p:txBody>
      </p:sp>
      <p:sp>
        <p:nvSpPr>
          <p:cNvPr id="106" name="CardBody"/>
          <p:cNvSpPr txBox="1"/>
          <p:nvPr/>
        </p:nvSpPr>
        <p:spPr>
          <a:xfrm>
            <a:off x="667900" y="2480000"/>
            <a:ext cx="3290000" cy="21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dirty="0">
                <a:solidFill>
                  <a:schemeClr val="lt2"/>
                </a:solidFill>
              </a:rPr>
              <a:t>15–20% reduction in 90+ day delinquency within 12 months</a:t>
            </a:r>
          </a:p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dirty="0">
                <a:solidFill>
                  <a:schemeClr val="lt2"/>
                </a:solidFill>
              </a:rPr>
              <a:t>Higher cure rate on early-stage delinquent accounts</a:t>
            </a:r>
          </a:p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dirty="0">
                <a:solidFill>
                  <a:schemeClr val="lt2"/>
                </a:solidFill>
              </a:rPr>
              <a:t>Lower cost-to-collect as automation absorbs low-risk volume</a:t>
            </a:r>
          </a:p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dirty="0">
                <a:solidFill>
                  <a:schemeClr val="lt2"/>
                </a:solidFill>
              </a:rPr>
              <a:t>Faster time-to-contact and fewer charge-offs</a:t>
            </a:r>
          </a:p>
        </p:txBody>
      </p:sp>
      <p:sp>
        <p:nvSpPr>
          <p:cNvPr id="107" name="Card"/>
          <p:cNvSpPr/>
          <p:nvPr/>
        </p:nvSpPr>
        <p:spPr>
          <a:xfrm>
            <a:off x="4870300" y="1780000"/>
            <a:ext cx="3850000" cy="3060000"/>
          </a:xfrm>
          <a:prstGeom prst="roundRect">
            <a:avLst>
              <a:gd name="adj" fmla="val 4000"/>
            </a:avLst>
          </a:prstGeom>
          <a:solidFill>
            <a:schemeClr val="dk2"/>
          </a:solidFill>
          <a:ln w="12700">
            <a:solidFill>
              <a:srgbClr val="FFEB38">
                <a:alpha val="55000"/>
              </a:srgbClr>
            </a:solidFill>
          </a:ln>
        </p:spPr>
        <p:txBody>
          <a:bodyPr wrap="square" lIns="0" tIns="0" rIns="0" bIns="0" anchor="t"/>
          <a:lstStyle/>
          <a:p>
            <a:endParaRPr lang="en"/>
          </a:p>
        </p:txBody>
      </p:sp>
      <p:sp>
        <p:nvSpPr>
          <p:cNvPr id="108" name="Circle"/>
          <p:cNvSpPr/>
          <p:nvPr/>
        </p:nvSpPr>
        <p:spPr>
          <a:xfrm>
            <a:off x="5050300" y="1960000"/>
            <a:ext cx="420000" cy="420000"/>
          </a:xfrm>
          <a:prstGeom prst="ellipse">
            <a:avLst/>
          </a:prstGeom>
          <a:solidFill>
            <a:srgbClr val="FFEB38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" sz="1600" b="1" dirty="0">
                <a:solidFill>
                  <a:schemeClr val="dk2"/>
                </a:solidFill>
              </a:rPr>
              <a:t>+</a:t>
            </a:r>
          </a:p>
        </p:txBody>
      </p:sp>
      <p:sp>
        <p:nvSpPr>
          <p:cNvPr id="109" name="CardHeading"/>
          <p:cNvSpPr txBox="1"/>
          <p:nvPr/>
        </p:nvSpPr>
        <p:spPr>
          <a:xfrm>
            <a:off x="5590300" y="1930000"/>
            <a:ext cx="3030000" cy="4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" sz="1500" b="1" dirty="0">
                <a:solidFill>
                  <a:schemeClr val="dk1"/>
                </a:solidFill>
              </a:rPr>
              <a:t>Customer Outcomes</a:t>
            </a:r>
          </a:p>
        </p:txBody>
      </p:sp>
      <p:sp>
        <p:nvSpPr>
          <p:cNvPr id="110" name="CardBody"/>
          <p:cNvSpPr txBox="1"/>
          <p:nvPr/>
        </p:nvSpPr>
        <p:spPr>
          <a:xfrm>
            <a:off x="5150300" y="2480000"/>
            <a:ext cx="3290000" cy="21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dirty="0">
                <a:solidFill>
                  <a:schemeClr val="lt2"/>
                </a:solidFill>
              </a:rPr>
              <a:t>More relevant, less intrusive outreach — right message, right channel, right time</a:t>
            </a:r>
          </a:p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dirty="0">
                <a:solidFill>
                  <a:schemeClr val="lt2"/>
                </a:solidFill>
              </a:rPr>
              <a:t>Faster access to flexible payment and hardship options</a:t>
            </a:r>
          </a:p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dirty="0">
                <a:solidFill>
                  <a:schemeClr val="lt2"/>
                </a:solidFill>
              </a:rPr>
              <a:t>Clear, plain-language explanations behind every decision</a:t>
            </a:r>
          </a:p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dirty="0">
                <a:solidFill>
                  <a:schemeClr val="lt2"/>
                </a:solidFill>
              </a:rPr>
              <a:t>Consistent, fair treatment across segments, with a human to talk to when it matters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 txBox="1">
            <a:spLocks noGrp="1"/>
          </p:cNvSpPr>
          <p:nvPr>
            <p:ph type="title"/>
          </p:nvPr>
        </p:nvSpPr>
        <p:spPr>
          <a:xfrm>
            <a:off x="387900" y="330000"/>
            <a:ext cx="8368200" cy="7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System Works</a:t>
            </a:r>
          </a:p>
        </p:txBody>
      </p:sp>
      <p:sp>
        <p:nvSpPr>
          <p:cNvPr id="101" name="Kicker"/>
          <p:cNvSpPr txBox="1"/>
          <p:nvPr/>
        </p:nvSpPr>
        <p:spPr>
          <a:xfrm>
            <a:off x="387900" y="1340000"/>
            <a:ext cx="8368200" cy="260000"/>
          </a:xfrm>
          <a:prstGeom prst="rect">
            <a:avLst/>
          </a:prstGeom>
          <a:noFill/>
        </p:spPr>
        <p:txBody>
          <a:bodyPr wrap="square" lIns="91425" tIns="0" rIns="91425" bIns="0" anchor="t">
            <a:noAutofit/>
          </a:bodyPr>
          <a:lstStyle/>
          <a:p>
            <a:pPr marL="0" indent="0" algn="l">
              <a:buNone/>
            </a:pPr>
            <a:r>
              <a:rPr lang="en" sz="1300" i="1" dirty="0">
                <a:solidFill>
                  <a:schemeClr val="accent4"/>
                </a:solidFill>
              </a:rPr>
              <a:t>Part 2 of 2 — From action to learning</a:t>
            </a:r>
          </a:p>
        </p:txBody>
      </p:sp>
      <p:sp>
        <p:nvSpPr>
          <p:cNvPr id="103" name="Card"/>
          <p:cNvSpPr/>
          <p:nvPr/>
        </p:nvSpPr>
        <p:spPr>
          <a:xfrm>
            <a:off x="387900" y="1780000"/>
            <a:ext cx="3780000" cy="3060000"/>
          </a:xfrm>
          <a:prstGeom prst="roundRect">
            <a:avLst>
              <a:gd name="adj" fmla="val 4000"/>
            </a:avLst>
          </a:prstGeom>
          <a:solidFill>
            <a:schemeClr val="dk2"/>
          </a:solidFill>
          <a:ln w="12700">
            <a:solidFill>
              <a:srgbClr val="8BC34A">
                <a:alpha val="55000"/>
              </a:srgbClr>
            </a:solidFill>
          </a:ln>
        </p:spPr>
        <p:txBody>
          <a:bodyPr wrap="square" lIns="0" tIns="0" rIns="0" bIns="0" anchor="t"/>
          <a:lstStyle/>
          <a:p>
            <a:endParaRPr lang="en"/>
          </a:p>
        </p:txBody>
      </p:sp>
      <p:sp>
        <p:nvSpPr>
          <p:cNvPr id="104" name="Circle"/>
          <p:cNvSpPr/>
          <p:nvPr/>
        </p:nvSpPr>
        <p:spPr>
          <a:xfrm>
            <a:off x="567900" y="1960000"/>
            <a:ext cx="420000" cy="420000"/>
          </a:xfrm>
          <a:prstGeom prst="ellipse">
            <a:avLst/>
          </a:prstGeom>
          <a:solidFill>
            <a:srgbClr val="8BC34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" sz="1600" b="1" dirty="0">
                <a:solidFill>
                  <a:schemeClr val="dk2"/>
                </a:solidFill>
              </a:rPr>
              <a:t>3</a:t>
            </a:r>
          </a:p>
        </p:txBody>
      </p:sp>
      <p:sp>
        <p:nvSpPr>
          <p:cNvPr id="105" name="CardHeading"/>
          <p:cNvSpPr txBox="1"/>
          <p:nvPr/>
        </p:nvSpPr>
        <p:spPr>
          <a:xfrm>
            <a:off x="1107900" y="1930000"/>
            <a:ext cx="2960000" cy="4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" sz="1500" b="1" dirty="0">
                <a:solidFill>
                  <a:schemeClr val="dk1"/>
                </a:solidFill>
              </a:rPr>
              <a:t>Actions</a:t>
            </a:r>
          </a:p>
        </p:txBody>
      </p:sp>
      <p:sp>
        <p:nvSpPr>
          <p:cNvPr id="106" name="CardBody"/>
          <p:cNvSpPr txBox="1"/>
          <p:nvPr/>
        </p:nvSpPr>
        <p:spPr>
          <a:xfrm>
            <a:off x="667900" y="2480000"/>
            <a:ext cx="3220000" cy="21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b="1" dirty="0">
                <a:solidFill>
                  <a:schemeClr val="dk1"/>
                </a:solidFill>
              </a:rPr>
              <a:t>Low risk: </a:t>
            </a:r>
            <a:r>
              <a:rPr lang="en" sz="1200" dirty="0">
                <a:solidFill>
                  <a:schemeClr val="lt2"/>
                </a:solidFill>
              </a:rPr>
              <a:t>Automated reminders by app push, email, or SMS ahead of the due date.</a:t>
            </a:r>
          </a:p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b="1" dirty="0">
                <a:solidFill>
                  <a:schemeClr val="dk1"/>
                </a:solidFill>
              </a:rPr>
              <a:t>Medium risk: </a:t>
            </a:r>
            <a:r>
              <a:rPr lang="en" sz="1200" dirty="0">
                <a:solidFill>
                  <a:schemeClr val="lt2"/>
                </a:solidFill>
              </a:rPr>
              <a:t>Personalized message offering flexible payment options or a short extension.</a:t>
            </a:r>
          </a:p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b="1" dirty="0">
                <a:solidFill>
                  <a:schemeClr val="dk1"/>
                </a:solidFill>
              </a:rPr>
              <a:t>High risk: </a:t>
            </a:r>
            <a:r>
              <a:rPr lang="en" sz="1200" dirty="0">
                <a:solidFill>
                  <a:schemeClr val="lt2"/>
                </a:solidFill>
              </a:rPr>
              <a:t>Proactive hardship-plan offer, routed to a human collections specialist.</a:t>
            </a:r>
          </a:p>
        </p:txBody>
      </p:sp>
      <p:sp>
        <p:nvSpPr>
          <p:cNvPr id="107" name="Arrow"/>
          <p:cNvSpPr/>
          <p:nvPr/>
        </p:nvSpPr>
        <p:spPr>
          <a:xfrm>
            <a:off x="4347900" y="3160000"/>
            <a:ext cx="380000" cy="300000"/>
          </a:xfrm>
          <a:prstGeom prst="rightArrow">
            <a:avLst>
              <a:gd name="adj1" fmla="val 60000"/>
              <a:gd name="adj2" fmla="val 60000"/>
            </a:avLst>
          </a:prstGeom>
          <a:solidFill>
            <a:srgbClr val="FFEB38"/>
          </a:solidFill>
          <a:ln>
            <a:noFill/>
          </a:ln>
        </p:spPr>
        <p:txBody>
          <a:bodyPr/>
          <a:lstStyle/>
          <a:p>
            <a:endParaRPr lang="en"/>
          </a:p>
        </p:txBody>
      </p:sp>
      <p:sp>
        <p:nvSpPr>
          <p:cNvPr id="108" name="Card"/>
          <p:cNvSpPr/>
          <p:nvPr/>
        </p:nvSpPr>
        <p:spPr>
          <a:xfrm>
            <a:off x="4907900" y="1780000"/>
            <a:ext cx="3780000" cy="3060000"/>
          </a:xfrm>
          <a:prstGeom prst="roundRect">
            <a:avLst>
              <a:gd name="adj" fmla="val 4000"/>
            </a:avLst>
          </a:prstGeom>
          <a:solidFill>
            <a:schemeClr val="dk2"/>
          </a:solidFill>
          <a:ln w="12700">
            <a:solidFill>
              <a:srgbClr val="FFEB38">
                <a:alpha val="55000"/>
              </a:srgbClr>
            </a:solidFill>
          </a:ln>
        </p:spPr>
        <p:txBody>
          <a:bodyPr wrap="square" lIns="0" tIns="0" rIns="0" bIns="0" anchor="t"/>
          <a:lstStyle/>
          <a:p>
            <a:endParaRPr lang="en"/>
          </a:p>
        </p:txBody>
      </p:sp>
      <p:sp>
        <p:nvSpPr>
          <p:cNvPr id="109" name="Circle"/>
          <p:cNvSpPr/>
          <p:nvPr/>
        </p:nvSpPr>
        <p:spPr>
          <a:xfrm>
            <a:off x="5087900" y="1960000"/>
            <a:ext cx="420000" cy="420000"/>
          </a:xfrm>
          <a:prstGeom prst="ellipse">
            <a:avLst/>
          </a:prstGeom>
          <a:solidFill>
            <a:srgbClr val="FFEB38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" sz="1600" b="1" dirty="0">
                <a:solidFill>
                  <a:schemeClr val="dk2"/>
                </a:solidFill>
              </a:rPr>
              <a:t>4</a:t>
            </a:r>
          </a:p>
        </p:txBody>
      </p:sp>
      <p:sp>
        <p:nvSpPr>
          <p:cNvPr id="110" name="CardHeading"/>
          <p:cNvSpPr txBox="1"/>
          <p:nvPr/>
        </p:nvSpPr>
        <p:spPr>
          <a:xfrm>
            <a:off x="5627900" y="1930000"/>
            <a:ext cx="2960000" cy="4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" sz="1500" b="1" dirty="0">
                <a:solidFill>
                  <a:schemeClr val="dk1"/>
                </a:solidFill>
              </a:rPr>
              <a:t>Learning Loop</a:t>
            </a:r>
          </a:p>
        </p:txBody>
      </p:sp>
      <p:sp>
        <p:nvSpPr>
          <p:cNvPr id="111" name="CardBody"/>
          <p:cNvSpPr txBox="1"/>
          <p:nvPr/>
        </p:nvSpPr>
        <p:spPr>
          <a:xfrm>
            <a:off x="5187900" y="2480000"/>
            <a:ext cx="3220000" cy="21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b="1" dirty="0">
                <a:solidFill>
                  <a:schemeClr val="dk1"/>
                </a:solidFill>
              </a:rPr>
              <a:t>Outcome capture: </a:t>
            </a:r>
            <a:r>
              <a:rPr lang="en" sz="1200" dirty="0">
                <a:solidFill>
                  <a:schemeClr val="lt2"/>
                </a:solidFill>
              </a:rPr>
              <a:t>Every case is labeled cured, still delinquent, or broken promise.</a:t>
            </a:r>
          </a:p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b="1" dirty="0">
                <a:solidFill>
                  <a:schemeClr val="dk1"/>
                </a:solidFill>
              </a:rPr>
              <a:t>Retraining: </a:t>
            </a:r>
            <a:r>
              <a:rPr lang="en" sz="1200" dirty="0">
                <a:solidFill>
                  <a:schemeClr val="lt2"/>
                </a:solidFill>
              </a:rPr>
              <a:t>The model retrains quarterly, or sooner if monitoring detects performance drift.</a:t>
            </a:r>
          </a:p>
          <a:p>
            <a:pPr marL="182880" indent="-182880" algn="l">
              <a:buFont typeface="Arial"/>
              <a:buChar char="•"/>
              <a:spcBef>
                <a:spcPts val="400"/>
              </a:spcBef>
            </a:pPr>
            <a:r>
              <a:rPr lang="en" sz="1200" b="1" dirty="0">
                <a:solidFill>
                  <a:schemeClr val="dk1"/>
                </a:solidFill>
              </a:rPr>
              <a:t>Continuous testing: </a:t>
            </a:r>
            <a:r>
              <a:rPr lang="en" sz="1200" dirty="0">
                <a:solidFill>
                  <a:schemeClr val="lt2"/>
                </a:solidFill>
              </a:rPr>
              <a:t>A/B tests compare intervention variants to keep improving results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